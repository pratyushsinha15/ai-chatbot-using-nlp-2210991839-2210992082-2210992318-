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72" r:id="rId4"/>
    <p:sldMasterId id="214748367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9144000"/>
  <p:notesSz cx="7559675" cy="106918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1:notes"/>
          <p:cNvSpPr txBox="1"/>
          <p:nvPr>
            <p:ph idx="12" type="sldNum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1" name="Google Shape;151;p1:notes"/>
          <p:cNvSpPr txBox="1"/>
          <p:nvPr>
            <p:ph idx="11" type="ftr"/>
          </p:nvPr>
        </p:nvSpPr>
        <p:spPr>
          <a:xfrm>
            <a:off x="0" y="10155238"/>
            <a:ext cx="3276600" cy="53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p2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p3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3" name="Google Shape;193;p4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p5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6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6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4" name="Google Shape;214;p7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p8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3"/>
          <p:cNvSpPr txBox="1"/>
          <p:nvPr>
            <p:ph idx="1"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9"/>
          <p:cNvSpPr txBox="1"/>
          <p:nvPr>
            <p:ph idx="3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10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3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1"/>
          <p:cNvSpPr txBox="1"/>
          <p:nvPr>
            <p:ph idx="1"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2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2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2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2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2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2"/>
          <p:cNvSpPr txBox="1"/>
          <p:nvPr>
            <p:ph idx="4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"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2"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3"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4"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5"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6"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6"/>
          <p:cNvSpPr txBox="1"/>
          <p:nvPr>
            <p:ph idx="1" type="subTitle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7"/>
          <p:cNvSpPr txBox="1"/>
          <p:nvPr>
            <p:ph idx="1" type="body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18"/>
          <p:cNvSpPr txBox="1"/>
          <p:nvPr>
            <p:ph idx="1" type="body"/>
          </p:nvPr>
        </p:nvSpPr>
        <p:spPr>
          <a:xfrm>
            <a:off x="457200" y="1604520"/>
            <a:ext cx="40158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8"/>
          <p:cNvSpPr txBox="1"/>
          <p:nvPr>
            <p:ph idx="2" type="body"/>
          </p:nvPr>
        </p:nvSpPr>
        <p:spPr>
          <a:xfrm>
            <a:off x="4674240" y="1604520"/>
            <a:ext cx="40158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>
            <p:ph idx="1" type="subTitle"/>
          </p:nvPr>
        </p:nvSpPr>
        <p:spPr>
          <a:xfrm>
            <a:off x="0" y="0"/>
            <a:ext cx="5486100" cy="423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45720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idx="2" type="body"/>
          </p:nvPr>
        </p:nvSpPr>
        <p:spPr>
          <a:xfrm>
            <a:off x="4674240" y="1604520"/>
            <a:ext cx="40158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1"/>
          <p:cNvSpPr txBox="1"/>
          <p:nvPr>
            <p:ph idx="3" type="body"/>
          </p:nvPr>
        </p:nvSpPr>
        <p:spPr>
          <a:xfrm>
            <a:off x="457200" y="368208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457200" y="1604520"/>
            <a:ext cx="40158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idx="2" type="body"/>
          </p:nvPr>
        </p:nvSpPr>
        <p:spPr>
          <a:xfrm>
            <a:off x="467424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idx="3" type="body"/>
          </p:nvPr>
        </p:nvSpPr>
        <p:spPr>
          <a:xfrm>
            <a:off x="4674240" y="368208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3"/>
          <p:cNvSpPr txBox="1"/>
          <p:nvPr>
            <p:ph idx="1" type="body"/>
          </p:nvPr>
        </p:nvSpPr>
        <p:spPr>
          <a:xfrm>
            <a:off x="45720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3"/>
          <p:cNvSpPr txBox="1"/>
          <p:nvPr>
            <p:ph idx="2" type="body"/>
          </p:nvPr>
        </p:nvSpPr>
        <p:spPr>
          <a:xfrm>
            <a:off x="467424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23"/>
          <p:cNvSpPr txBox="1"/>
          <p:nvPr>
            <p:ph idx="3" type="body"/>
          </p:nvPr>
        </p:nvSpPr>
        <p:spPr>
          <a:xfrm>
            <a:off x="457200" y="3682080"/>
            <a:ext cx="82293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457200" y="1604520"/>
            <a:ext cx="82293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24"/>
          <p:cNvSpPr txBox="1"/>
          <p:nvPr>
            <p:ph idx="2" type="body"/>
          </p:nvPr>
        </p:nvSpPr>
        <p:spPr>
          <a:xfrm>
            <a:off x="457200" y="3682080"/>
            <a:ext cx="82293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5"/>
          <p:cNvSpPr txBox="1"/>
          <p:nvPr>
            <p:ph idx="1" type="body"/>
          </p:nvPr>
        </p:nvSpPr>
        <p:spPr>
          <a:xfrm>
            <a:off x="45720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5"/>
          <p:cNvSpPr txBox="1"/>
          <p:nvPr>
            <p:ph idx="2" type="body"/>
          </p:nvPr>
        </p:nvSpPr>
        <p:spPr>
          <a:xfrm>
            <a:off x="4674240" y="160452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5"/>
          <p:cNvSpPr txBox="1"/>
          <p:nvPr>
            <p:ph idx="3" type="body"/>
          </p:nvPr>
        </p:nvSpPr>
        <p:spPr>
          <a:xfrm>
            <a:off x="457200" y="368208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4" type="body"/>
          </p:nvPr>
        </p:nvSpPr>
        <p:spPr>
          <a:xfrm>
            <a:off x="4674240" y="3682080"/>
            <a:ext cx="40158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0" y="0"/>
            <a:ext cx="5486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6"/>
          <p:cNvSpPr txBox="1"/>
          <p:nvPr>
            <p:ph idx="1" type="body"/>
          </p:nvPr>
        </p:nvSpPr>
        <p:spPr>
          <a:xfrm>
            <a:off x="457200" y="160452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26"/>
          <p:cNvSpPr txBox="1"/>
          <p:nvPr>
            <p:ph idx="2" type="body"/>
          </p:nvPr>
        </p:nvSpPr>
        <p:spPr>
          <a:xfrm>
            <a:off x="3239640" y="160452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26"/>
          <p:cNvSpPr txBox="1"/>
          <p:nvPr>
            <p:ph idx="3" type="body"/>
          </p:nvPr>
        </p:nvSpPr>
        <p:spPr>
          <a:xfrm>
            <a:off x="6022080" y="160452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6"/>
          <p:cNvSpPr txBox="1"/>
          <p:nvPr>
            <p:ph idx="4" type="body"/>
          </p:nvPr>
        </p:nvSpPr>
        <p:spPr>
          <a:xfrm>
            <a:off x="457200" y="368208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26"/>
          <p:cNvSpPr txBox="1"/>
          <p:nvPr>
            <p:ph idx="5" type="body"/>
          </p:nvPr>
        </p:nvSpPr>
        <p:spPr>
          <a:xfrm>
            <a:off x="3239640" y="368208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26"/>
          <p:cNvSpPr txBox="1"/>
          <p:nvPr>
            <p:ph idx="6" type="body"/>
          </p:nvPr>
        </p:nvSpPr>
        <p:spPr>
          <a:xfrm>
            <a:off x="6022080" y="3682080"/>
            <a:ext cx="26496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5" Type="http://schemas.openxmlformats.org/officeDocument/2006/relationships/theme" Target="../theme/theme3.xml"/><Relationship Id="rId1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 flipH="1" rot="10800000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.gif" id="12" name="Google Shape;12;p1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3" name="Google Shape;13;p1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OGO.gif" id="16" name="Google Shape;16;p1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logo.jpg" id="18" name="Google Shape;18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9" name="Google Shape;19;p1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OGO.gif" id="22" name="Google Shape;22;p1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logo.jpg" id="24" name="Google Shape;24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"/>
          <p:cNvSpPr txBox="1"/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"/>
          <p:cNvSpPr txBox="1"/>
          <p:nvPr>
            <p:ph idx="1"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/>
          <p:nvPr/>
        </p:nvSpPr>
        <p:spPr>
          <a:xfrm>
            <a:off x="0" y="0"/>
            <a:ext cx="9143700" cy="8376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4"/>
          <p:cNvSpPr/>
          <p:nvPr/>
        </p:nvSpPr>
        <p:spPr>
          <a:xfrm flipH="1" rot="10800000">
            <a:off x="0" y="6704580"/>
            <a:ext cx="9143700" cy="1977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.gif" id="81" name="Google Shape;81;p14"/>
          <p:cNvPicPr preferRelativeResize="0"/>
          <p:nvPr/>
        </p:nvPicPr>
        <p:blipFill rotWithShape="1">
          <a:blip r:embed="rId1">
            <a:alphaModFix/>
          </a:blip>
          <a:srcRect b="10714" l="0" r="0" t="0"/>
          <a:stretch/>
        </p:blipFill>
        <p:spPr>
          <a:xfrm>
            <a:off x="6553080" y="228600"/>
            <a:ext cx="2057039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82" name="Google Shape;82;p14"/>
          <p:cNvPicPr preferRelativeResize="0"/>
          <p:nvPr/>
        </p:nvPicPr>
        <p:blipFill rotWithShape="1">
          <a:blip r:embed="rId1">
            <a:alphaModFix/>
          </a:blip>
          <a:srcRect b="10714" l="0" r="0" t="0"/>
          <a:stretch/>
        </p:blipFill>
        <p:spPr>
          <a:xfrm>
            <a:off x="6553080" y="228600"/>
            <a:ext cx="2057039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14"/>
          <p:cNvGrpSpPr/>
          <p:nvPr/>
        </p:nvGrpSpPr>
        <p:grpSpPr>
          <a:xfrm>
            <a:off x="6146640" y="0"/>
            <a:ext cx="2997000" cy="875940"/>
            <a:chOff x="6146640" y="0"/>
            <a:chExt cx="2997000" cy="875940"/>
          </a:xfrm>
        </p:grpSpPr>
        <p:sp>
          <p:nvSpPr>
            <p:cNvPr id="84" name="Google Shape;84;p14"/>
            <p:cNvSpPr/>
            <p:nvPr/>
          </p:nvSpPr>
          <p:spPr>
            <a:xfrm>
              <a:off x="6146640" y="0"/>
              <a:ext cx="2997000" cy="83760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OGO.gif" id="85" name="Google Shape;85;p14"/>
            <p:cNvPicPr preferRelativeResize="0"/>
            <p:nvPr/>
          </p:nvPicPr>
          <p:blipFill rotWithShape="1">
            <a:blip r:embed="rId1">
              <a:alphaModFix/>
            </a:blip>
            <a:srcRect b="10714" l="0" r="0" t="0"/>
            <a:stretch/>
          </p:blipFill>
          <p:spPr>
            <a:xfrm>
              <a:off x="6553080" y="228600"/>
              <a:ext cx="2057039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" name="Google Shape;86;p14"/>
            <p:cNvSpPr/>
            <p:nvPr/>
          </p:nvSpPr>
          <p:spPr>
            <a:xfrm>
              <a:off x="6527880" y="190440"/>
              <a:ext cx="2076000" cy="685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logo.jpg" id="87" name="Google Shape;8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88" name="Google Shape;88;p14"/>
          <p:cNvPicPr preferRelativeResize="0"/>
          <p:nvPr/>
        </p:nvPicPr>
        <p:blipFill rotWithShape="1">
          <a:blip r:embed="rId1">
            <a:alphaModFix/>
          </a:blip>
          <a:srcRect b="10714" l="0" r="0" t="0"/>
          <a:stretch/>
        </p:blipFill>
        <p:spPr>
          <a:xfrm>
            <a:off x="6553080" y="228600"/>
            <a:ext cx="2057039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9" name="Google Shape;89;p14"/>
          <p:cNvGrpSpPr/>
          <p:nvPr/>
        </p:nvGrpSpPr>
        <p:grpSpPr>
          <a:xfrm>
            <a:off x="6146640" y="0"/>
            <a:ext cx="2997000" cy="875940"/>
            <a:chOff x="6146640" y="0"/>
            <a:chExt cx="2997000" cy="875940"/>
          </a:xfrm>
        </p:grpSpPr>
        <p:sp>
          <p:nvSpPr>
            <p:cNvPr id="90" name="Google Shape;90;p14"/>
            <p:cNvSpPr/>
            <p:nvPr/>
          </p:nvSpPr>
          <p:spPr>
            <a:xfrm>
              <a:off x="6146640" y="0"/>
              <a:ext cx="2997000" cy="83760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LOGO.gif" id="91" name="Google Shape;91;p14"/>
            <p:cNvPicPr preferRelativeResize="0"/>
            <p:nvPr/>
          </p:nvPicPr>
          <p:blipFill rotWithShape="1">
            <a:blip r:embed="rId1">
              <a:alphaModFix/>
            </a:blip>
            <a:srcRect b="10714" l="0" r="0" t="0"/>
            <a:stretch/>
          </p:blipFill>
          <p:spPr>
            <a:xfrm>
              <a:off x="6553080" y="228600"/>
              <a:ext cx="2057039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2" name="Google Shape;92;p14"/>
            <p:cNvSpPr/>
            <p:nvPr/>
          </p:nvSpPr>
          <p:spPr>
            <a:xfrm>
              <a:off x="6527880" y="190440"/>
              <a:ext cx="2076000" cy="685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logo.jpg" id="93" name="Google Shape;9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>
            <p:ph type="title"/>
          </p:nvPr>
        </p:nvSpPr>
        <p:spPr>
          <a:xfrm>
            <a:off x="0" y="0"/>
            <a:ext cx="64767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457200" y="1371600"/>
            <a:ext cx="8229300" cy="45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0" type="dt"/>
          </p:nvPr>
        </p:nvSpPr>
        <p:spPr>
          <a:xfrm>
            <a:off x="45720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4"/>
          <p:cNvSpPr txBox="1"/>
          <p:nvPr>
            <p:ph idx="11" type="ftr"/>
          </p:nvPr>
        </p:nvSpPr>
        <p:spPr>
          <a:xfrm>
            <a:off x="3124080" y="6356520"/>
            <a:ext cx="28950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14"/>
          <p:cNvSpPr txBox="1"/>
          <p:nvPr>
            <p:ph idx="12" type="sldNum"/>
          </p:nvPr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/>
          <p:nvPr/>
        </p:nvSpPr>
        <p:spPr>
          <a:xfrm>
            <a:off x="0" y="840625"/>
            <a:ext cx="9144000" cy="57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CO-OP Project at Industry (Module-2) (22CS421)</a:t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-US" sz="3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Chatbot Using Natural Language Processing</a:t>
            </a:r>
            <a:endParaRPr b="1" i="1" sz="3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Lakshay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2210991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839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Pratyush Sinha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221099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2318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Shivansh Banyal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221099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2318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Shikha Tuteja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Chitkara University, Punjab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p28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lang="en-US" sz="1900">
                <a:latin typeface="Times New Roman"/>
                <a:ea typeface="Times New Roman"/>
                <a:cs typeface="Times New Roman"/>
                <a:sym typeface="Times New Roman"/>
              </a:rPr>
              <a:t>What is this Project? </a:t>
            </a:r>
            <a:endParaRPr b="1" i="0" sz="19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A Conversational AI Chatbot that understands natural language queries and converts them into structured SQL statements automatically.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Built Using Python , NLP Libraries and a relational database backend.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Non Technical users struggle to retrieve data from databases.This system eliminates that barrier by letting users simply “talk” to the database in natural language.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Users type plain English prompts - the system parses intent , entitles and conditions then generates and executes a correct SQL query 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/>
        </p:nvSpPr>
        <p:spPr>
          <a:xfrm>
            <a:off x="0" y="0"/>
            <a:ext cx="9144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and Methodology</a:t>
            </a:r>
            <a:endParaRPr b="1" sz="2400">
              <a:solidFill>
                <a:srgbClr val="1E293B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29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67" name="Google Shape;167;p29"/>
          <p:cNvGrpSpPr/>
          <p:nvPr/>
        </p:nvGrpSpPr>
        <p:grpSpPr>
          <a:xfrm>
            <a:off x="285750" y="1143000"/>
            <a:ext cx="8572500" cy="571500"/>
            <a:chOff x="285750" y="1143000"/>
            <a:chExt cx="8572500" cy="571500"/>
          </a:xfrm>
        </p:grpSpPr>
        <p:sp>
          <p:nvSpPr>
            <p:cNvPr id="168" name="Google Shape;168;p29"/>
            <p:cNvSpPr/>
            <p:nvPr/>
          </p:nvSpPr>
          <p:spPr>
            <a:xfrm>
              <a:off x="285750" y="1143000"/>
              <a:ext cx="1524000" cy="571500"/>
            </a:xfrm>
            <a:prstGeom prst="roundRect">
              <a:avLst>
                <a:gd fmla="val 13333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9"/>
            <p:cNvSpPr txBox="1"/>
            <p:nvPr/>
          </p:nvSpPr>
          <p:spPr>
            <a:xfrm>
              <a:off x="285750" y="1143000"/>
              <a:ext cx="1524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625" lIns="47625" spcFirstLastPara="1" rIns="47625" wrap="square" tIns="47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User Input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(Natural Language)</a:t>
              </a:r>
              <a:endParaRPr b="0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0" name="Google Shape;170;p2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809750" y="1419225"/>
              <a:ext cx="1905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1" name="Google Shape;171;p29"/>
            <p:cNvSpPr/>
            <p:nvPr/>
          </p:nvSpPr>
          <p:spPr>
            <a:xfrm>
              <a:off x="2047875" y="1143000"/>
              <a:ext cx="1524000" cy="571500"/>
            </a:xfrm>
            <a:prstGeom prst="roundRect">
              <a:avLst>
                <a:gd fmla="val 13333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29"/>
            <p:cNvSpPr txBox="1"/>
            <p:nvPr/>
          </p:nvSpPr>
          <p:spPr>
            <a:xfrm>
              <a:off x="2047875" y="1143000"/>
              <a:ext cx="1524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625" lIns="47625" spcFirstLastPara="1" rIns="47625" wrap="square" tIns="47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NLP Processing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(Tokenize/Parse)</a:t>
              </a:r>
              <a:endParaRPr b="0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3" name="Google Shape;173;p2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571875" y="1419225"/>
              <a:ext cx="1905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29"/>
            <p:cNvSpPr/>
            <p:nvPr/>
          </p:nvSpPr>
          <p:spPr>
            <a:xfrm>
              <a:off x="3810000" y="1143000"/>
              <a:ext cx="1524000" cy="571500"/>
            </a:xfrm>
            <a:prstGeom prst="roundRect">
              <a:avLst>
                <a:gd fmla="val 13333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9"/>
            <p:cNvSpPr txBox="1"/>
            <p:nvPr/>
          </p:nvSpPr>
          <p:spPr>
            <a:xfrm>
              <a:off x="3810000" y="1143000"/>
              <a:ext cx="1524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625" lIns="47625" spcFirstLastPara="1" rIns="47625" wrap="square" tIns="47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Intent &amp; Entity Extraction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6" name="Google Shape;176;p2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334000" y="1419225"/>
              <a:ext cx="1905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29"/>
            <p:cNvSpPr/>
            <p:nvPr/>
          </p:nvSpPr>
          <p:spPr>
            <a:xfrm>
              <a:off x="5572125" y="1143000"/>
              <a:ext cx="1524000" cy="571500"/>
            </a:xfrm>
            <a:prstGeom prst="roundRect">
              <a:avLst>
                <a:gd fmla="val 13333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9"/>
            <p:cNvSpPr txBox="1"/>
            <p:nvPr/>
          </p:nvSpPr>
          <p:spPr>
            <a:xfrm>
              <a:off x="5572125" y="1143000"/>
              <a:ext cx="1524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625" lIns="47625" spcFirstLastPara="1" rIns="47625" wrap="square" tIns="47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SQL Query Generation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9" name="Google Shape;179;p2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096125" y="1419225"/>
              <a:ext cx="1905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0" name="Google Shape;180;p29"/>
            <p:cNvSpPr/>
            <p:nvPr/>
          </p:nvSpPr>
          <p:spPr>
            <a:xfrm>
              <a:off x="7334250" y="1143000"/>
              <a:ext cx="1524000" cy="571500"/>
            </a:xfrm>
            <a:prstGeom prst="roundRect">
              <a:avLst>
                <a:gd fmla="val 13333" name="adj"/>
              </a:avLst>
            </a:prstGeom>
            <a:solidFill>
              <a:srgbClr val="6366F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9"/>
            <p:cNvSpPr txBox="1"/>
            <p:nvPr/>
          </p:nvSpPr>
          <p:spPr>
            <a:xfrm>
              <a:off x="7334250" y="1143000"/>
              <a:ext cx="1524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7625" lIns="47625" spcFirstLastPara="1" rIns="47625" wrap="square" tIns="476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Database Execution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29"/>
          <p:cNvGrpSpPr/>
          <p:nvPr/>
        </p:nvGrpSpPr>
        <p:grpSpPr>
          <a:xfrm>
            <a:off x="285750" y="2000250"/>
            <a:ext cx="8572500" cy="4190850"/>
            <a:chOff x="285750" y="2000250"/>
            <a:chExt cx="8572500" cy="4190850"/>
          </a:xfrm>
        </p:grpSpPr>
        <p:sp>
          <p:nvSpPr>
            <p:cNvPr id="183" name="Google Shape;183;p29"/>
            <p:cNvSpPr/>
            <p:nvPr/>
          </p:nvSpPr>
          <p:spPr>
            <a:xfrm>
              <a:off x="285750" y="2000250"/>
              <a:ext cx="4191000" cy="20001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9"/>
            <p:cNvSpPr txBox="1"/>
            <p:nvPr/>
          </p:nvSpPr>
          <p:spPr>
            <a:xfrm>
              <a:off x="285750" y="2000250"/>
              <a:ext cx="41910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B82F6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NLP Pipeline</a:t>
              </a:r>
              <a:endParaRPr b="1" sz="1800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Tokenization splits user text into meaningful tokens.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POS tagging identifies nouns (tables/columns) &amp; verbs (operations).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Named Entity Recognition extracts values and conditions.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85" name="Google Shape;185;p29"/>
            <p:cNvSpPr/>
            <p:nvPr/>
          </p:nvSpPr>
          <p:spPr>
            <a:xfrm>
              <a:off x="4667250" y="2000250"/>
              <a:ext cx="4191000" cy="20001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9"/>
            <p:cNvSpPr txBox="1"/>
            <p:nvPr/>
          </p:nvSpPr>
          <p:spPr>
            <a:xfrm>
              <a:off x="4667250" y="2000250"/>
              <a:ext cx="41910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65">
                  <a:solidFill>
                    <a:srgbClr val="10B98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Intent Classification</a:t>
              </a:r>
              <a:endParaRPr b="1" sz="1665">
                <a:solidFill>
                  <a:srgbClr val="10B98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Times New Roman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Classifies query intent: SELECT, INSERT, UPDATE, DELETE.</a:t>
              </a:r>
              <a:endParaRPr sz="10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Times New Roman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Rule-Based + ML hybrid approach for better accuracy.</a:t>
              </a:r>
              <a:endParaRPr sz="10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Arial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Handles ambiguous prompts with fallback clarification</a:t>
              </a:r>
              <a:r>
                <a:rPr lang="en-US" sz="1018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018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9"/>
            <p:cNvSpPr/>
            <p:nvPr/>
          </p:nvSpPr>
          <p:spPr>
            <a:xfrm>
              <a:off x="285750" y="4191000"/>
              <a:ext cx="4191000" cy="20001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9"/>
            <p:cNvSpPr txBox="1"/>
            <p:nvPr/>
          </p:nvSpPr>
          <p:spPr>
            <a:xfrm>
              <a:off x="285750" y="4191000"/>
              <a:ext cx="41910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65">
                  <a:solidFill>
                    <a:srgbClr val="F59E0B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SQL Generation Engine</a:t>
              </a:r>
              <a:endParaRPr b="1" sz="1665">
                <a:solidFill>
                  <a:srgbClr val="F59E0B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Times New Roman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Maps parsed entities to database schema dynamically.</a:t>
              </a:r>
              <a:endParaRPr sz="10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Times New Roman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Builds parameterized SQL to prevent Injection attacks.</a:t>
              </a:r>
              <a:endParaRPr sz="10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3211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018"/>
                <a:buFont typeface="Times New Roman"/>
                <a:buChar char="●"/>
              </a:pPr>
              <a:r>
                <a:rPr lang="en-US" sz="1018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Supports Joins, WHERE, GROUP BY, and ORDER BY clauses.</a:t>
              </a:r>
              <a:endParaRPr sz="1018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89" name="Google Shape;189;p29"/>
            <p:cNvSpPr/>
            <p:nvPr/>
          </p:nvSpPr>
          <p:spPr>
            <a:xfrm>
              <a:off x="4667250" y="4191000"/>
              <a:ext cx="4191000" cy="20001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9"/>
            <p:cNvSpPr txBox="1"/>
            <p:nvPr/>
          </p:nvSpPr>
          <p:spPr>
            <a:xfrm>
              <a:off x="4667250" y="4191000"/>
              <a:ext cx="41910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6366F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Execution &amp; Delivery</a:t>
              </a:r>
              <a:endParaRPr b="1" sz="1800">
                <a:solidFill>
                  <a:srgbClr val="6366F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Connects to MySQL/SQLite via Python Connectors.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Executes queries and returns formatted result sets.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Times New Roman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Error handling with user-friendly fallback messages.</a:t>
              </a:r>
              <a:endParaRPr sz="1100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Features &amp; Implementation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7" name="Google Shape;197;p30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latin typeface="Times New Roman"/>
                <a:ea typeface="Times New Roman"/>
                <a:cs typeface="Times New Roman"/>
                <a:sym typeface="Times New Roman"/>
              </a:rPr>
              <a:t>Core Capabilities</a:t>
            </a:r>
            <a:endParaRPr b="1"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Natural Language input -no sql knowledge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required.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Real-time query generation from typed prompt.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Multi-table Join query support.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Aggregate functions : COUNT, SUM,AVG,MAX.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Handles filters, sorting and grouped results.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Schema-aware mapping for table/column.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Query history and session management.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User friendly error and suggestion messages</a:t>
            </a: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b="1"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98" name="Google Shape;19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0300" y="949349"/>
            <a:ext cx="3422301" cy="470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4" name="Google Shape;204;p31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2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0" name="Google Shape;210;p32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1" name="Google Shape;211;p32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/>
        </p:nvSpPr>
        <p:spPr>
          <a:xfrm>
            <a:off x="81925" y="0"/>
            <a:ext cx="63948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-US" sz="29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Geographic Disparities &amp; Future Outlook </a:t>
            </a:r>
            <a:endParaRPr b="0" i="0" sz="27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7" name="Google Shape;217;p33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8" name="Google Shape;218;p33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/>
        </p:nvSpPr>
        <p:spPr>
          <a:xfrm>
            <a:off x="1297577" y="2821578"/>
            <a:ext cx="6705600" cy="14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0" i="0" sz="5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4" name="Google Shape;224;p34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