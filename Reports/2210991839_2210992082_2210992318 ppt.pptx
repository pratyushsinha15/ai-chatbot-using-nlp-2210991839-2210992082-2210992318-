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2" r:id="rId1"/>
    <p:sldMasterId id="2147483673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51" name="Google Shape;151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100" cy="4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 rot="10800000" flipH="1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4" descr="LOGO.gif"/>
          <p:cNvPicPr preferRelativeResize="0"/>
          <p:nvPr/>
        </p:nvPicPr>
        <p:blipFill rotWithShape="1">
          <a:blip r:embed="rId14">
            <a:alphaModFix/>
          </a:blip>
          <a:srcRect b="10714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 descr="LOGO.gif"/>
          <p:cNvPicPr preferRelativeResize="0"/>
          <p:nvPr/>
        </p:nvPicPr>
        <p:blipFill rotWithShape="1">
          <a:blip r:embed="rId14">
            <a:alphaModFix/>
          </a:blip>
          <a:srcRect b="10714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4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84" name="Google Shape;84;p14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" name="Google Shape;85;p14" descr="LOGO.gif"/>
            <p:cNvPicPr preferRelativeResize="0"/>
            <p:nvPr/>
          </p:nvPicPr>
          <p:blipFill rotWithShape="1">
            <a:blip r:embed="rId14">
              <a:alphaModFix/>
            </a:blip>
            <a:srcRect b="10714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4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7" name="Google Shape;87;p14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 descr="LOGO.gif"/>
          <p:cNvPicPr preferRelativeResize="0"/>
          <p:nvPr/>
        </p:nvPicPr>
        <p:blipFill rotWithShape="1">
          <a:blip r:embed="rId14">
            <a:alphaModFix/>
          </a:blip>
          <a:srcRect b="10714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4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90" name="Google Shape;90;p14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1" name="Google Shape;91;p14" descr="LOGO.gif"/>
            <p:cNvPicPr preferRelativeResize="0"/>
            <p:nvPr/>
          </p:nvPicPr>
          <p:blipFill rotWithShape="1">
            <a:blip r:embed="rId14">
              <a:alphaModFix/>
            </a:blip>
            <a:srcRect b="10714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4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3" name="Google Shape;93;p14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/>
        </p:nvSpPr>
        <p:spPr>
          <a:xfrm>
            <a:off x="0" y="840625"/>
            <a:ext cx="9144000" cy="57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Chatbot Using Natural Language Processing</a:t>
            </a:r>
            <a:endParaRPr sz="3000" b="1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Lakshay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2210991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839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Pratyush Sinha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221099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2082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Shivansh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Banyal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221099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2318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Shikha Tuteja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What is this Project? </a:t>
            </a:r>
            <a:endParaRPr sz="19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Conversational AI Chatbot that understands natural language queries and converts them into structured SQL statements automatically.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Built Using Python , NLP Libraries and a relational database backend.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Non Technical users struggle to retrieve data from databases.This system eliminates that barrier by letting users simply “talk” to the database in natural language.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Users type plain English prompts - the system parses intent , entitles and conditions then generates and executes a correct SQL query 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and Methodology</a:t>
            </a:r>
            <a:endParaRPr sz="2400" b="1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7" name="Google Shape;167;p29"/>
          <p:cNvGrpSpPr/>
          <p:nvPr/>
        </p:nvGrpSpPr>
        <p:grpSpPr>
          <a:xfrm>
            <a:off x="285750" y="1143000"/>
            <a:ext cx="8572500" cy="571500"/>
            <a:chOff x="285750" y="1143000"/>
            <a:chExt cx="8572500" cy="571500"/>
          </a:xfrm>
        </p:grpSpPr>
        <p:sp>
          <p:nvSpPr>
            <p:cNvPr id="168" name="Google Shape;168;p29"/>
            <p:cNvSpPr/>
            <p:nvPr/>
          </p:nvSpPr>
          <p:spPr>
            <a:xfrm>
              <a:off x="285750" y="1143000"/>
              <a:ext cx="1524000" cy="571500"/>
            </a:xfrm>
            <a:prstGeom prst="roundRect">
              <a:avLst>
                <a:gd name="adj" fmla="val 13333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9"/>
            <p:cNvSpPr txBox="1"/>
            <p:nvPr/>
          </p:nvSpPr>
          <p:spPr>
            <a:xfrm>
              <a:off x="285750" y="11430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User Input</a:t>
              </a:r>
              <a:endPara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(Natural Language)</a:t>
              </a:r>
              <a:endParaRPr sz="9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0" name="Google Shape;170;p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09750" y="14192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29"/>
            <p:cNvSpPr/>
            <p:nvPr/>
          </p:nvSpPr>
          <p:spPr>
            <a:xfrm>
              <a:off x="2047875" y="1143000"/>
              <a:ext cx="1524000" cy="571500"/>
            </a:xfrm>
            <a:prstGeom prst="roundRect">
              <a:avLst>
                <a:gd name="adj" fmla="val 13333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9"/>
            <p:cNvSpPr txBox="1"/>
            <p:nvPr/>
          </p:nvSpPr>
          <p:spPr>
            <a:xfrm>
              <a:off x="2047875" y="11430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NLP Processing</a:t>
              </a:r>
              <a:endPara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(Tokenize/Parse)</a:t>
              </a:r>
              <a:endParaRPr sz="9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3" name="Google Shape;173;p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71875" y="14192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29"/>
            <p:cNvSpPr/>
            <p:nvPr/>
          </p:nvSpPr>
          <p:spPr>
            <a:xfrm>
              <a:off x="3810000" y="1143000"/>
              <a:ext cx="1524000" cy="57150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9"/>
            <p:cNvSpPr txBox="1"/>
            <p:nvPr/>
          </p:nvSpPr>
          <p:spPr>
            <a:xfrm>
              <a:off x="3810000" y="11430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Intent &amp; Entity Extraction</a:t>
              </a:r>
              <a:endPara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334000" y="14192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29"/>
            <p:cNvSpPr/>
            <p:nvPr/>
          </p:nvSpPr>
          <p:spPr>
            <a:xfrm>
              <a:off x="5572125" y="1143000"/>
              <a:ext cx="1524000" cy="571500"/>
            </a:xfrm>
            <a:prstGeom prst="roundRect">
              <a:avLst>
                <a:gd name="adj" fmla="val 13333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9"/>
            <p:cNvSpPr txBox="1"/>
            <p:nvPr/>
          </p:nvSpPr>
          <p:spPr>
            <a:xfrm>
              <a:off x="5572125" y="11430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SQL Query Generation</a:t>
              </a:r>
              <a:endPara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9" name="Google Shape;179;p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96125" y="14192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9"/>
            <p:cNvSpPr/>
            <p:nvPr/>
          </p:nvSpPr>
          <p:spPr>
            <a:xfrm>
              <a:off x="7334250" y="1143000"/>
              <a:ext cx="1524000" cy="571500"/>
            </a:xfrm>
            <a:prstGeom prst="roundRect">
              <a:avLst>
                <a:gd name="adj" fmla="val 13333"/>
              </a:avLst>
            </a:prstGeom>
            <a:solidFill>
              <a:srgbClr val="6366F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9"/>
            <p:cNvSpPr txBox="1"/>
            <p:nvPr/>
          </p:nvSpPr>
          <p:spPr>
            <a:xfrm>
              <a:off x="7334250" y="11430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Database Execution</a:t>
              </a:r>
              <a:endPara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29"/>
          <p:cNvGrpSpPr/>
          <p:nvPr/>
        </p:nvGrpSpPr>
        <p:grpSpPr>
          <a:xfrm>
            <a:off x="285750" y="2000250"/>
            <a:ext cx="8572500" cy="4190850"/>
            <a:chOff x="285750" y="2000250"/>
            <a:chExt cx="8572500" cy="4190850"/>
          </a:xfrm>
        </p:grpSpPr>
        <p:sp>
          <p:nvSpPr>
            <p:cNvPr id="183" name="Google Shape;183;p29"/>
            <p:cNvSpPr/>
            <p:nvPr/>
          </p:nvSpPr>
          <p:spPr>
            <a:xfrm>
              <a:off x="285750" y="2000250"/>
              <a:ext cx="4191000" cy="20001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9"/>
            <p:cNvSpPr txBox="1"/>
            <p:nvPr/>
          </p:nvSpPr>
          <p:spPr>
            <a:xfrm>
              <a:off x="285750" y="2000250"/>
              <a:ext cx="4191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B82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NLP Pipeline</a:t>
              </a:r>
              <a:endParaRPr sz="1800" b="1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8450" algn="l" rtl="0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Tokenization splits user text into meaningful tokens.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 tagging identifies nouns (tables/columns) &amp; verbs (operations).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Named Entity Recognition extracts values and conditions.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" name="Google Shape;185;p29"/>
            <p:cNvSpPr/>
            <p:nvPr/>
          </p:nvSpPr>
          <p:spPr>
            <a:xfrm>
              <a:off x="4667250" y="2000250"/>
              <a:ext cx="4191000" cy="20001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9"/>
            <p:cNvSpPr txBox="1"/>
            <p:nvPr/>
          </p:nvSpPr>
          <p:spPr>
            <a:xfrm>
              <a:off x="4667250" y="2000250"/>
              <a:ext cx="4191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65" b="1">
                  <a:solidFill>
                    <a:srgbClr val="10B98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Intent Classification</a:t>
              </a:r>
              <a:endParaRPr sz="1665" b="1">
                <a:solidFill>
                  <a:srgbClr val="10B98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3211" algn="l" rtl="0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018"/>
                <a:buFont typeface="Times New Roman"/>
                <a:buChar char="●"/>
              </a:pPr>
              <a:r>
                <a:rPr lang="en-US" sz="1018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Classifies query intent: SELECT, INSERT, UPDATE, DELETE.</a:t>
              </a:r>
              <a:endParaRPr sz="1018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3211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18"/>
                <a:buFont typeface="Times New Roman"/>
                <a:buChar char="●"/>
              </a:pPr>
              <a:r>
                <a:rPr lang="en-US" sz="1018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Rule-Based + ML hybrid approach for better accuracy.</a:t>
              </a:r>
              <a:endParaRPr sz="1018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3211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18"/>
                <a:buFont typeface="Arial"/>
                <a:buChar char="●"/>
              </a:pPr>
              <a:r>
                <a:rPr lang="en-US" sz="1018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Handles ambiguous prompts with fallback clarification</a:t>
              </a:r>
              <a:r>
                <a:rPr lang="en-US" sz="101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01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9"/>
            <p:cNvSpPr/>
            <p:nvPr/>
          </p:nvSpPr>
          <p:spPr>
            <a:xfrm>
              <a:off x="285750" y="4191000"/>
              <a:ext cx="4191000" cy="20001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9"/>
            <p:cNvSpPr txBox="1"/>
            <p:nvPr/>
          </p:nvSpPr>
          <p:spPr>
            <a:xfrm>
              <a:off x="285750" y="4191000"/>
              <a:ext cx="4191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65" b="1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SQL Generation Engine</a:t>
              </a:r>
              <a:endParaRPr sz="1665" b="1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3211" algn="l" rtl="0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018"/>
                <a:buFont typeface="Times New Roman"/>
                <a:buChar char="●"/>
              </a:pPr>
              <a:r>
                <a:rPr lang="en-US" sz="1018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Maps parsed entities to database schema dynamically.</a:t>
              </a:r>
              <a:endParaRPr sz="1018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3211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18"/>
                <a:buFont typeface="Times New Roman"/>
                <a:buChar char="●"/>
              </a:pPr>
              <a:r>
                <a:rPr lang="en-US" sz="1018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Builds parameterized SQL to prevent Injection attacks.</a:t>
              </a:r>
              <a:endParaRPr sz="1018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3211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18"/>
                <a:buFont typeface="Times New Roman"/>
                <a:buChar char="●"/>
              </a:pPr>
              <a:r>
                <a:rPr lang="en-US" sz="1018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Supports Joins, WHERE, GROUP BY, and ORDER BY clauses.</a:t>
              </a:r>
              <a:endParaRPr sz="1018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29"/>
            <p:cNvSpPr/>
            <p:nvPr/>
          </p:nvSpPr>
          <p:spPr>
            <a:xfrm>
              <a:off x="4667250" y="4191000"/>
              <a:ext cx="4191000" cy="20001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9"/>
            <p:cNvSpPr txBox="1"/>
            <p:nvPr/>
          </p:nvSpPr>
          <p:spPr>
            <a:xfrm>
              <a:off x="4667250" y="4191000"/>
              <a:ext cx="4191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366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Execution &amp; Delivery</a:t>
              </a:r>
              <a:endParaRPr sz="1800" b="1">
                <a:solidFill>
                  <a:srgbClr val="6366F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8450" algn="l" rtl="0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Connects to MySQL/SQLite via Python Connectors.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Executes queries and returns formatted result sets.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Error handling with user-friendly fallback messages.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 &amp; Implementation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Core Capabilities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Natural Language input -no sql knowledge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required.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Real-time query generation from typed prompt.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Multi-table Join query support.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Aggregate functions : COUNT, SUM,AVG,MAX.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Handles filters, sorting and grouped results.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Schema-aware mapping for table/column.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Query history and session management.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User friendly error and suggestion messages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300" y="949349"/>
            <a:ext cx="3422301" cy="470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endParaRPr sz="19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endParaRPr sz="19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/>
        </p:nvSpPr>
        <p:spPr>
          <a:xfrm>
            <a:off x="81925" y="0"/>
            <a:ext cx="63948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 Disparities &amp; Future Outlook </a:t>
            </a:r>
            <a:endParaRPr sz="2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33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/>
        </p:nvSpPr>
        <p:spPr>
          <a:xfrm>
            <a:off x="1297577" y="2821578"/>
            <a:ext cx="67056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On-screen Show (4:3)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Lakshay</cp:lastModifiedBy>
  <cp:revision>1</cp:revision>
  <dcterms:modified xsi:type="dcterms:W3CDTF">2026-05-18T06:22:30Z</dcterms:modified>
</cp:coreProperties>
</file>